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254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515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 i="0">
                <a:solidFill>
                  <a:srgbClr val="8FB8DC"/>
                </a:solidFill>
                <a:latin typeface="Calibri"/>
              </a:rPr>
              <a:t>PRELIMINARY ANALYSIS</a:t>
            </a:r>
          </a:p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Mapping Phenopackets to the SVCv4 Case Model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C3CCD8"/>
                </a:solidFill>
                <a:latin typeface="Calibri"/>
              </a:rPr>
              <a:t>How curated cases feed method-type evidence lines and scores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43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9AA6B4"/>
                </a:solidFill>
                <a:latin typeface="Calibri"/>
              </a:rPr>
              <a:t>GA4GH Phenopackets v2  ·  svcv4-model Case + applicability matrix  ·  VA-Spec Evidence Line</a:t>
            </a:r>
          </a:p>
          <a:p>
            <a:pPr algn="l">
              <a:spcAft>
                <a:spcPts val="600"/>
              </a:spcAft>
            </a:pPr>
            <a:r>
              <a:rPr sz="1200" b="0" i="1">
                <a:solidFill>
                  <a:srgbClr val="7A8696"/>
                </a:solidFill>
                <a:latin typeface="Calibri"/>
              </a:rPr>
              <a:t>Salient findings —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92608"/>
            <a:ext cx="100584" cy="56692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82880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 i="0">
                <a:solidFill>
                  <a:srgbClr val="1F6FB2"/>
                </a:solidFill>
                <a:latin typeface="Calibri"/>
              </a:rPr>
              <a:t>THE HEADLINE</a:t>
            </a:r>
          </a:p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A202C"/>
                </a:solidFill>
                <a:latin typeface="Calibri"/>
              </a:rPr>
              <a:t>The Case model is a curated-derivation layer, not raw observations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78992"/>
            <a:ext cx="10835640" cy="1905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5212080" cy="30632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5212080" cy="45720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472184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PHENOPACKETS  (source)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4754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1A202C"/>
                </a:solidFill>
                <a:latin typeface="Calibri"/>
              </a:rPr>
              <a:t>Raw, observed clinical facts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5B6677"/>
                </a:solidFill>
                <a:latin typeface="Calibri"/>
              </a:rPr>
              <a:t>HPO terms · ages · measurements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5B6677"/>
                </a:solidFill>
                <a:latin typeface="Calibri"/>
              </a:rPr>
              <a:t>VRS alleles inside interpretations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5B6677"/>
                </a:solidFill>
                <a:latin typeface="Calibri"/>
              </a:rPr>
              <a:t>Zygosity · predicted MOI · disease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5B6677"/>
                </a:solidFill>
                <a:latin typeface="Calibri"/>
              </a:rPr>
              <a:t>excluded=true absent findings · PMIDs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417320"/>
            <a:ext cx="5212080" cy="30632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417320"/>
            <a:ext cx="5212080" cy="457200"/>
          </a:xfrm>
          <a:prstGeom prst="rect">
            <a:avLst/>
          </a:prstGeom>
          <a:solidFill>
            <a:srgbClr val="B55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472184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CASE MODEL  (curated)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011680"/>
            <a:ext cx="4754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1A202C"/>
                </a:solidFill>
                <a:latin typeface="Calibri"/>
              </a:rPr>
              <a:t>Curator judgments, already derived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5B6677"/>
                </a:solidFill>
                <a:latin typeface="Calibri"/>
              </a:rPr>
              <a:t>pheno_specificity_for_mde: SPECIFIC…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5B6677"/>
                </a:solidFill>
                <a:latin typeface="Calibri"/>
              </a:rPr>
              <a:t>age_matched_penetrance: NEAR_100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5B6677"/>
                </a:solidFill>
                <a:latin typeface="Calibri"/>
              </a:rPr>
              <a:t>pheno_severity: BIALLELIC_LT_EXPECTED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5B6677"/>
                </a:solidFill>
                <a:latin typeface="Calibri"/>
              </a:rPr>
              <a:t>gene_specificity_for_phenotypes: 100%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4754880"/>
            <a:ext cx="10835640" cy="1143000"/>
          </a:xfrm>
          <a:prstGeom prst="rect">
            <a:avLst/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919472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This is a transformation, not a field copy.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C3CCD8"/>
                </a:solidFill>
                <a:latin typeface="Calibri"/>
              </a:rPr>
              <a:t>A phenopacket→case adapter is mostly a derivation engine — the real work sits between these two columns.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4282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Calibri"/>
              </a:rPr>
              <a:t>Phenopackets → Case Model → SVCv4 Evidence Lines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2823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92608"/>
            <a:ext cx="100584" cy="56692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82880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 i="0">
                <a:solidFill>
                  <a:srgbClr val="1F6FB2"/>
                </a:solidFill>
                <a:latin typeface="Calibri"/>
              </a:rPr>
              <a:t>THE MAPPING</a:t>
            </a:r>
          </a:p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A202C"/>
                </a:solidFill>
                <a:latin typeface="Calibri"/>
              </a:rPr>
              <a:t>Three tiers — and only the last two carry risk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78992"/>
            <a:ext cx="10835640" cy="1905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371600"/>
            <a:ext cx="10835640" cy="14630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2148840" cy="146304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82496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TIER 1</a:t>
            </a:r>
          </a:p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Near-direct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1554480"/>
            <a:ext cx="8275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A202C"/>
                </a:solidFill>
                <a:latin typeface="Calibri"/>
              </a:rPr>
              <a:t>sex · age · phenotypes · VBC allele · zygosity · MOI · disease · PMIDs</a:t>
            </a:r>
          </a:p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2E7D5B"/>
                </a:solidFill>
                <a:latin typeface="Calibri"/>
              </a:rPr>
              <a:t>Straight mapping — low effort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962656"/>
            <a:ext cx="10835640" cy="14630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962656"/>
            <a:ext cx="2148840" cy="1463040"/>
          </a:xfrm>
          <a:prstGeom prst="rect">
            <a:avLst/>
          </a:prstGeom>
          <a:solidFill>
            <a:srgbClr val="B55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273552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TIER 2</a:t>
            </a:r>
          </a:p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Derivation gap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3145536"/>
            <a:ext cx="8275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A202C"/>
                </a:solidFill>
                <a:latin typeface="Calibri"/>
              </a:rPr>
              <a:t>pheno_specificity · gene_specificity · pheno_severity · penetrance · phase</a:t>
            </a:r>
          </a:p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B55A1E"/>
                </a:solidFill>
                <a:latin typeface="Calibri"/>
              </a:rPr>
              <a:t>No phenopacket carries these — a curator or algorithm must compute them. This is the real work.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4553712"/>
            <a:ext cx="10835640" cy="14630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553712"/>
            <a:ext cx="2148840" cy="1463040"/>
          </a:xfrm>
          <a:prstGeom prst="rect">
            <a:avLst/>
          </a:prstGeom>
          <a:solidFill>
            <a:srgbClr val="A8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864608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TIER 3</a:t>
            </a:r>
          </a:p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Structural mismatch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4736592"/>
            <a:ext cx="8275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A202C"/>
                </a:solidFill>
                <a:latin typeface="Calibri"/>
              </a:rPr>
              <a:t>Family≠individual · excluded findings dropped · prior ACMG discarded · comp-het phasing</a:t>
            </a:r>
          </a:p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A83B3B"/>
                </a:solidFill>
                <a:latin typeface="Calibri"/>
              </a:rPr>
              <a:t>Decide handling before ingest — LOC_SEG/CLN_DNV need the Family wrapper; exclusion signal is lost today.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4282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Calibri"/>
              </a:rPr>
              <a:t>Phenopackets → Case Model → SVCv4 Evidence Lines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2823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92608"/>
            <a:ext cx="100584" cy="56692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82880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 i="0">
                <a:solidFill>
                  <a:srgbClr val="1F6FB2"/>
                </a:solidFill>
                <a:latin typeface="Calibri"/>
              </a:rPr>
              <a:t>THE FLOW</a:t>
            </a:r>
          </a:p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A202C"/>
                </a:solidFill>
                <a:latin typeface="Calibri"/>
              </a:rPr>
              <a:t>How a case becomes an SVCv4 evidence 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78992"/>
            <a:ext cx="10835640" cy="1905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325880"/>
            <a:ext cx="457200" cy="658368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44752"/>
            <a:ext cx="457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1325880"/>
            <a:ext cx="8961120" cy="65836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57400" y="1399032"/>
            <a:ext cx="8595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450" b="1" i="0">
                <a:solidFill>
                  <a:srgbClr val="1A202C"/>
                </a:solidFill>
                <a:latin typeface="Calibri"/>
              </a:rPr>
              <a:t>Phenopacket / Family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5B6677"/>
                </a:solidFill>
                <a:latin typeface="Calibri"/>
              </a:rPr>
              <a:t>Raw observations · VRS allele · pedigree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1956816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D8DEE6"/>
                </a:solidFill>
                <a:latin typeface="Calibri"/>
              </a:rPr>
              <a:t>▼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2167128"/>
            <a:ext cx="457200" cy="658368"/>
          </a:xfrm>
          <a:prstGeom prst="rect">
            <a:avLst/>
          </a:prstGeom>
          <a:solidFill>
            <a:srgbClr val="B55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2286000"/>
            <a:ext cx="457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2167128"/>
            <a:ext cx="8961120" cy="65836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57400" y="2240280"/>
            <a:ext cx="8595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450" b="1" i="0">
                <a:solidFill>
                  <a:srgbClr val="1A202C"/>
                </a:solidFill>
                <a:latin typeface="Calibri"/>
              </a:rPr>
              <a:t>Case + WorkflowParameters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5B6677"/>
                </a:solidFill>
                <a:latin typeface="Calibri"/>
              </a:rPr>
              <a:t>Derivation applied (Tier 2 verdicts)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2798064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D8DEE6"/>
                </a:solidFill>
                <a:latin typeface="Calibri"/>
              </a:rPr>
              <a:t>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0" y="3008376"/>
            <a:ext cx="457200" cy="65836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457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" y="3008376"/>
            <a:ext cx="8961120" cy="65836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57400" y="3081528"/>
            <a:ext cx="8595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450" b="1" i="0">
                <a:solidFill>
                  <a:srgbClr val="1A202C"/>
                </a:solidFill>
                <a:latin typeface="Calibri"/>
              </a:rPr>
              <a:t>Applicability matrix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5B6677"/>
                </a:solidFill>
                <a:latin typeface="Calibri"/>
              </a:rPr>
              <a:t>Selects workflow view CLN_AFF … LOC_SEG  ·  r / o / c / 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81328" y="3639312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D8DEE6"/>
                </a:solidFill>
                <a:latin typeface="Calibri"/>
              </a:rPr>
              <a:t>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1600" y="3849624"/>
            <a:ext cx="457200" cy="65836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3968496"/>
            <a:ext cx="457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0" y="3849624"/>
            <a:ext cx="8961120" cy="65836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57400" y="3922776"/>
            <a:ext cx="8595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450" b="1" i="0">
                <a:solidFill>
                  <a:srgbClr val="1A202C"/>
                </a:solidFill>
                <a:latin typeface="Calibri"/>
              </a:rPr>
              <a:t>EvidenceItem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5B6677"/>
                </a:solidFill>
                <a:latin typeface="Calibri"/>
              </a:rPr>
              <a:t>clinical_observation · data = &lt;case&gt; · references = [PMIDs]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1328" y="4480560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D8DEE6"/>
                </a:solidFill>
                <a:latin typeface="Calibri"/>
              </a:rPr>
              <a:t>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71600" y="4690872"/>
            <a:ext cx="457200" cy="658368"/>
          </a:xfrm>
          <a:prstGeom prst="rect">
            <a:avLst/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71600" y="4809744"/>
            <a:ext cx="457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28800" y="4690872"/>
            <a:ext cx="8961120" cy="65836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57400" y="4764024"/>
            <a:ext cx="8595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450" b="1" i="0">
                <a:solidFill>
                  <a:srgbClr val="1A202C"/>
                </a:solidFill>
                <a:latin typeface="Calibri"/>
              </a:rPr>
              <a:t>CSpec rule → EvidenceLine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5B6677"/>
                </a:solidFill>
                <a:latin typeface="Calibri"/>
              </a:rPr>
              <a:t>Method.code consumes it → score · strength · contribution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81328" y="5321808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D8DEE6"/>
                </a:solidFill>
                <a:latin typeface="Calibri"/>
              </a:rPr>
              <a:t>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71600" y="5532120"/>
            <a:ext cx="457200" cy="658368"/>
          </a:xfrm>
          <a:prstGeom prst="rect">
            <a:avLst/>
          </a:prstGeom>
          <a:solidFill>
            <a:srgbClr val="A8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1600" y="5650992"/>
            <a:ext cx="457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0" y="5532120"/>
            <a:ext cx="8961120" cy="65836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57400" y="5605272"/>
            <a:ext cx="8595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450" b="1" i="0">
                <a:solidFill>
                  <a:srgbClr val="1A202C"/>
                </a:solidFill>
                <a:latin typeface="Calibri"/>
              </a:rPr>
              <a:t>Statement.final_score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5B6677"/>
                </a:solidFill>
                <a:latin typeface="Calibri"/>
              </a:rPr>
              <a:t>Evidence lines compose into the classification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6391656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1">
                <a:solidFill>
                  <a:srgbClr val="5B6677"/>
                </a:solidFill>
                <a:latin typeface="Calibri"/>
              </a:rPr>
              <a:t>Each workflow view = one evidence line's input contract. The matrix is the phenopacket↔cspec interface.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64282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Calibri"/>
              </a:rPr>
              <a:t>Phenopackets → Case Model → SVCv4 Evidence Lines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42823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92608"/>
            <a:ext cx="100584" cy="56692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82880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 i="0">
                <a:solidFill>
                  <a:srgbClr val="1F6FB2"/>
                </a:solidFill>
                <a:latin typeface="Calibri"/>
              </a:rPr>
              <a:t>THE STRATEGIC QUESTION</a:t>
            </a:r>
          </a:p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A202C"/>
                </a:solidFill>
                <a:latin typeface="Calibri"/>
              </a:rPr>
              <a:t>What role should Phenopackets play relative to our Case model?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78992"/>
            <a:ext cx="10835640" cy="1905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371600"/>
            <a:ext cx="5257800" cy="20574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5257800" cy="53035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453896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26464"/>
            <a:ext cx="4434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INBOUND 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29968"/>
            <a:ext cx="4800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E7D5B"/>
                </a:solidFill>
                <a:latin typeface="Calibri"/>
              </a:rPr>
              <a:t>Phenopacket → Case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A202C"/>
                </a:solidFill>
                <a:latin typeface="Calibri"/>
              </a:rPr>
              <a:t>Curate into a phenopacket-style structure, then extract the Case model from it. Packet is upstream source of truth.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371600"/>
            <a:ext cx="5257800" cy="20574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371600"/>
            <a:ext cx="5257800" cy="530352"/>
          </a:xfrm>
          <a:prstGeom prst="rect">
            <a:avLst/>
          </a:prstGeom>
          <a:solidFill>
            <a:srgbClr val="B55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453896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1426464"/>
            <a:ext cx="4434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NATIVE STORAGE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029968"/>
            <a:ext cx="4800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B55A1E"/>
                </a:solidFill>
                <a:latin typeface="Calibri"/>
              </a:rPr>
              <a:t>Case lives in Phenopacket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A202C"/>
                </a:solidFill>
                <a:latin typeface="Calibri"/>
              </a:rPr>
              <a:t>Use the phenopacket schema as the container for Case elements directly. Case model = a profile/view over it.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657600"/>
            <a:ext cx="5257800" cy="20574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3657600"/>
            <a:ext cx="5257800" cy="530352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739896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712464"/>
            <a:ext cx="4434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EXTERNAL RESOURCE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315968"/>
            <a:ext cx="4800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F6FB2"/>
                </a:solidFill>
                <a:latin typeface="Calibri"/>
              </a:rPr>
              <a:t>Case  ↔  Phenopacket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A202C"/>
                </a:solidFill>
                <a:latin typeface="Calibri"/>
              </a:rPr>
              <a:t>Sits outside the workflow — a standard resource to pull from when useful. Loosest coupling, lowest commitment.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3657600"/>
            <a:ext cx="5257800" cy="20574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3657600"/>
            <a:ext cx="5257800" cy="530352"/>
          </a:xfrm>
          <a:prstGeom prst="rect">
            <a:avLst/>
          </a:prstGeom>
          <a:solidFill>
            <a:srgbClr val="A8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3739896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3712464"/>
            <a:ext cx="4434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OUTBOUND SHARE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315968"/>
            <a:ext cx="4800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A83B3B"/>
                </a:solidFill>
                <a:latin typeface="Calibri"/>
              </a:rPr>
              <a:t>Case → Phenopacket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A202C"/>
                </a:solidFill>
                <a:latin typeface="Calibri"/>
              </a:rPr>
              <a:t>Keep the native Case model; transform to phenopacket to share downstream. Interop at the boundary only.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5806440"/>
            <a:ext cx="10835640" cy="502920"/>
          </a:xfrm>
          <a:prstGeom prst="rect">
            <a:avLst/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870448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1">
                <a:solidFill>
                  <a:srgbClr val="C3CCD8"/>
                </a:solidFill>
                <a:latin typeface="Calibri"/>
              </a:rPr>
              <a:t>Our Tier-2 finding tilts this: curated verdicts fit poorly as native phenopacket data (weakens B), but the packet is a strong source to derive from (A) and a clean export target for the raw subset (D).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64282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Calibri"/>
              </a:rPr>
              <a:t>Phenopackets → Case Model → SVCv4 Evidence Lines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2823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40080"/>
            <a:ext cx="100584" cy="64008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548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8FB8DC"/>
                </a:solidFill>
                <a:latin typeface="Calibri"/>
              </a:rPr>
              <a:t>THE DECISION TO RESOLVE</a:t>
            </a:r>
          </a:p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Where does the Tier-2 derivation layer live?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" y="1783080"/>
            <a:ext cx="10058400" cy="1097280"/>
          </a:xfrm>
          <a:prstGeom prst="rect">
            <a:avLst/>
          </a:prstGeom>
          <a:solidFill>
            <a:srgbClr val="25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1560" y="1783080"/>
            <a:ext cx="822960" cy="109728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093976"/>
            <a:ext cx="822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1920240"/>
            <a:ext cx="8869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Curator enters verdicts by hand   ← implied by current field vocabulary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9AA6B4"/>
                </a:solidFill>
                <a:latin typeface="Calibri"/>
              </a:rPr>
              <a:t>Case = curation form. Matches today's abstract vocab. Phenopackets is a source a curator reads.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1560" y="3026664"/>
            <a:ext cx="10058400" cy="1097280"/>
          </a:xfrm>
          <a:prstGeom prst="rect">
            <a:avLst/>
          </a:prstGeom>
          <a:solidFill>
            <a:srgbClr val="25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51560" y="3026664"/>
            <a:ext cx="822960" cy="1097280"/>
          </a:xfrm>
          <a:prstGeom prst="rect">
            <a:avLst/>
          </a:prstGeom>
          <a:solidFill>
            <a:srgbClr val="3A4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337560"/>
            <a:ext cx="822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163824"/>
            <a:ext cx="8869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D0D6DE"/>
                </a:solidFill>
                <a:latin typeface="Calibri"/>
              </a:rPr>
              <a:t>Adapter auto-derives from raw data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9AA6B4"/>
                </a:solidFill>
                <a:latin typeface="Calibri"/>
              </a:rPr>
              <a:t>Phenopackets becomes a true automated input — requires building the derivation engine.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51560" y="4270248"/>
            <a:ext cx="10058400" cy="1097280"/>
          </a:xfrm>
          <a:prstGeom prst="rect">
            <a:avLst/>
          </a:prstGeom>
          <a:solidFill>
            <a:srgbClr val="25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51560" y="4270248"/>
            <a:ext cx="822960" cy="1097280"/>
          </a:xfrm>
          <a:prstGeom prst="rect">
            <a:avLst/>
          </a:prstGeom>
          <a:solidFill>
            <a:srgbClr val="3A4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581144"/>
            <a:ext cx="822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4407408"/>
            <a:ext cx="8869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D0D6DE"/>
                </a:solidFill>
                <a:latin typeface="Calibri"/>
              </a:rPr>
              <a:t>Hybrid: auto-draft, curator confirms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9AA6B4"/>
                </a:solidFill>
                <a:latin typeface="Calibri"/>
              </a:rPr>
              <a:t>Adapter proposes verdicts; curator signs off. Balances automation with judgment.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5943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1">
                <a:solidFill>
                  <a:srgbClr val="9AA6B4"/>
                </a:solidFill>
                <a:latin typeface="Calibri"/>
              </a:rPr>
              <a:t>This choice and the Phenopacket-role choice (prior slide) are linked: A/B imply auto-derivation; C/D fit hand-curation.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4282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Calibri"/>
              </a:rPr>
              <a:t>Phenopackets → Case Model → SVCv4 Evidence Lines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2823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